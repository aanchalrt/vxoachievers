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nva Sans" panose="020B0604020202020204" charset="0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03671" y="1698008"/>
            <a:ext cx="13279501" cy="7913522"/>
            <a:chOff x="0" y="0"/>
            <a:chExt cx="29235031" cy="17421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35096" cy="17421796"/>
            </a:xfrm>
            <a:custGeom>
              <a:avLst/>
              <a:gdLst/>
              <a:ahLst/>
              <a:cxnLst/>
              <a:rect l="l" t="t" r="r" b="b"/>
              <a:pathLst>
                <a:path w="29235096" h="17421796">
                  <a:moveTo>
                    <a:pt x="0" y="0"/>
                  </a:moveTo>
                  <a:lnTo>
                    <a:pt x="29235096" y="0"/>
                  </a:lnTo>
                  <a:lnTo>
                    <a:pt x="29235096" y="17421796"/>
                  </a:lnTo>
                  <a:lnTo>
                    <a:pt x="0" y="1742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t="-27689" b="-2768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49742" y="602042"/>
            <a:ext cx="3391183" cy="4786596"/>
            <a:chOff x="0" y="0"/>
            <a:chExt cx="6430688" cy="90768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30634" cy="9076817"/>
            </a:xfrm>
            <a:custGeom>
              <a:avLst/>
              <a:gdLst/>
              <a:ahLst/>
              <a:cxnLst/>
              <a:rect l="l" t="t" r="r" b="b"/>
              <a:pathLst>
                <a:path w="6430634" h="9076817">
                  <a:moveTo>
                    <a:pt x="0" y="0"/>
                  </a:moveTo>
                  <a:lnTo>
                    <a:pt x="6430634" y="0"/>
                  </a:lnTo>
                  <a:lnTo>
                    <a:pt x="6430634" y="9076817"/>
                  </a:lnTo>
                  <a:lnTo>
                    <a:pt x="0" y="9076817"/>
                  </a:lnTo>
                  <a:close/>
                </a:path>
              </a:pathLst>
            </a:custGeom>
            <a:solidFill>
              <a:srgbClr val="E2A9F1">
                <a:alpha val="5882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730833" y="4556529"/>
            <a:ext cx="2099191" cy="8525986"/>
            <a:chOff x="0" y="0"/>
            <a:chExt cx="3980688" cy="161677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80688" cy="16167860"/>
            </a:xfrm>
            <a:custGeom>
              <a:avLst/>
              <a:gdLst/>
              <a:ahLst/>
              <a:cxnLst/>
              <a:rect l="l" t="t" r="r" b="b"/>
              <a:pathLst>
                <a:path w="3980688" h="16167860">
                  <a:moveTo>
                    <a:pt x="0" y="0"/>
                  </a:moveTo>
                  <a:lnTo>
                    <a:pt x="3980688" y="0"/>
                  </a:lnTo>
                  <a:lnTo>
                    <a:pt x="3980688" y="16167860"/>
                  </a:lnTo>
                  <a:lnTo>
                    <a:pt x="0" y="16167860"/>
                  </a:lnTo>
                  <a:close/>
                </a:path>
              </a:pathLst>
            </a:custGeom>
            <a:solidFill>
              <a:srgbClr val="38B6FF">
                <a:alpha val="6667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2729249" y="4310364"/>
            <a:ext cx="2099191" cy="9018310"/>
            <a:chOff x="0" y="0"/>
            <a:chExt cx="3980688" cy="171013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80688" cy="17101389"/>
            </a:xfrm>
            <a:custGeom>
              <a:avLst/>
              <a:gdLst/>
              <a:ahLst/>
              <a:cxnLst/>
              <a:rect l="l" t="t" r="r" b="b"/>
              <a:pathLst>
                <a:path w="3980688" h="17101389">
                  <a:moveTo>
                    <a:pt x="0" y="0"/>
                  </a:moveTo>
                  <a:lnTo>
                    <a:pt x="3980688" y="0"/>
                  </a:lnTo>
                  <a:lnTo>
                    <a:pt x="3980688" y="17101389"/>
                  </a:lnTo>
                  <a:lnTo>
                    <a:pt x="0" y="17101389"/>
                  </a:lnTo>
                  <a:close/>
                </a:path>
              </a:pathLst>
            </a:custGeom>
            <a:solidFill>
              <a:srgbClr val="C1FF72">
                <a:alpha val="29804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579107" y="2867364"/>
            <a:ext cx="3462153" cy="4786596"/>
            <a:chOff x="0" y="0"/>
            <a:chExt cx="6565267" cy="90768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65250" cy="9076817"/>
            </a:xfrm>
            <a:custGeom>
              <a:avLst/>
              <a:gdLst/>
              <a:ahLst/>
              <a:cxnLst/>
              <a:rect l="l" t="t" r="r" b="b"/>
              <a:pathLst>
                <a:path w="6565250" h="9076817">
                  <a:moveTo>
                    <a:pt x="0" y="0"/>
                  </a:moveTo>
                  <a:lnTo>
                    <a:pt x="6565250" y="0"/>
                  </a:lnTo>
                  <a:lnTo>
                    <a:pt x="6565250" y="9076817"/>
                  </a:lnTo>
                  <a:lnTo>
                    <a:pt x="0" y="9076817"/>
                  </a:lnTo>
                  <a:close/>
                </a:path>
              </a:pathLst>
            </a:custGeom>
            <a:solidFill>
              <a:srgbClr val="5CE1E6">
                <a:alpha val="7451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896817" y="2867364"/>
            <a:ext cx="3391183" cy="4786596"/>
            <a:chOff x="0" y="0"/>
            <a:chExt cx="6430688" cy="90768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30634" cy="9076817"/>
            </a:xfrm>
            <a:custGeom>
              <a:avLst/>
              <a:gdLst/>
              <a:ahLst/>
              <a:cxnLst/>
              <a:rect l="l" t="t" r="r" b="b"/>
              <a:pathLst>
                <a:path w="6430634" h="9076817">
                  <a:moveTo>
                    <a:pt x="0" y="0"/>
                  </a:moveTo>
                  <a:lnTo>
                    <a:pt x="6430634" y="0"/>
                  </a:lnTo>
                  <a:lnTo>
                    <a:pt x="6430634" y="9076817"/>
                  </a:lnTo>
                  <a:lnTo>
                    <a:pt x="0" y="9076817"/>
                  </a:lnTo>
                  <a:close/>
                </a:path>
              </a:pathLst>
            </a:custGeom>
            <a:solidFill>
              <a:srgbClr val="5E17EB">
                <a:alpha val="2353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045767" y="2867364"/>
            <a:ext cx="3391183" cy="2393295"/>
            <a:chOff x="0" y="0"/>
            <a:chExt cx="6430688" cy="45383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30634" cy="4538345"/>
            </a:xfrm>
            <a:custGeom>
              <a:avLst/>
              <a:gdLst/>
              <a:ahLst/>
              <a:cxnLst/>
              <a:rect l="l" t="t" r="r" b="b"/>
              <a:pathLst>
                <a:path w="6430634" h="4538345">
                  <a:moveTo>
                    <a:pt x="0" y="0"/>
                  </a:moveTo>
                  <a:lnTo>
                    <a:pt x="6430634" y="0"/>
                  </a:lnTo>
                  <a:lnTo>
                    <a:pt x="6430634" y="4538345"/>
                  </a:lnTo>
                  <a:lnTo>
                    <a:pt x="0" y="4538345"/>
                  </a:lnTo>
                  <a:close/>
                </a:path>
              </a:pathLst>
            </a:custGeom>
            <a:solidFill>
              <a:srgbClr val="C1FF72">
                <a:alpha val="9804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045767" y="5382315"/>
            <a:ext cx="3391183" cy="2271646"/>
            <a:chOff x="0" y="0"/>
            <a:chExt cx="6430688" cy="43077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30634" cy="4307713"/>
            </a:xfrm>
            <a:custGeom>
              <a:avLst/>
              <a:gdLst/>
              <a:ahLst/>
              <a:cxnLst/>
              <a:rect l="l" t="t" r="r" b="b"/>
              <a:pathLst>
                <a:path w="6430634" h="4307713">
                  <a:moveTo>
                    <a:pt x="0" y="0"/>
                  </a:moveTo>
                  <a:lnTo>
                    <a:pt x="6430634" y="0"/>
                  </a:lnTo>
                  <a:lnTo>
                    <a:pt x="6430634" y="4307713"/>
                  </a:lnTo>
                  <a:lnTo>
                    <a:pt x="0" y="4307713"/>
                  </a:lnTo>
                  <a:close/>
                </a:path>
              </a:pathLst>
            </a:custGeom>
            <a:solidFill>
              <a:srgbClr val="FFDE59">
                <a:alpha val="12157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235460" y="5382315"/>
            <a:ext cx="3534772" cy="2271646"/>
            <a:chOff x="0" y="0"/>
            <a:chExt cx="6702974" cy="43077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02920" cy="4307713"/>
            </a:xfrm>
            <a:custGeom>
              <a:avLst/>
              <a:gdLst/>
              <a:ahLst/>
              <a:cxnLst/>
              <a:rect l="l" t="t" r="r" b="b"/>
              <a:pathLst>
                <a:path w="6702920" h="4307713">
                  <a:moveTo>
                    <a:pt x="0" y="0"/>
                  </a:moveTo>
                  <a:lnTo>
                    <a:pt x="6702920" y="0"/>
                  </a:lnTo>
                  <a:lnTo>
                    <a:pt x="6702920" y="4307713"/>
                  </a:lnTo>
                  <a:lnTo>
                    <a:pt x="0" y="4307713"/>
                  </a:lnTo>
                  <a:close/>
                </a:path>
              </a:pathLst>
            </a:custGeom>
            <a:solidFill>
              <a:srgbClr val="FFBD59">
                <a:alpha val="12549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164481" y="2867364"/>
            <a:ext cx="3605751" cy="2393295"/>
            <a:chOff x="0" y="0"/>
            <a:chExt cx="6837572" cy="45383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37536" cy="4538345"/>
            </a:xfrm>
            <a:custGeom>
              <a:avLst/>
              <a:gdLst/>
              <a:ahLst/>
              <a:cxnLst/>
              <a:rect l="l" t="t" r="r" b="b"/>
              <a:pathLst>
                <a:path w="6837536" h="4538345">
                  <a:moveTo>
                    <a:pt x="0" y="0"/>
                  </a:moveTo>
                  <a:lnTo>
                    <a:pt x="6837536" y="0"/>
                  </a:lnTo>
                  <a:lnTo>
                    <a:pt x="6837536" y="4538345"/>
                  </a:lnTo>
                  <a:lnTo>
                    <a:pt x="0" y="4538345"/>
                  </a:lnTo>
                  <a:close/>
                </a:path>
              </a:pathLst>
            </a:custGeom>
            <a:solidFill>
              <a:srgbClr val="B4B4B4">
                <a:alpha val="6667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8347" y="2921725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35900" y="2876992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06309" y="5436676"/>
            <a:ext cx="3391183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Metrics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4307" y="7900385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Structure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913107" y="2950592"/>
            <a:ext cx="2137119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Segments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69690" y="7827345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Streams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74151" y="2921725"/>
            <a:ext cx="2590205" cy="70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Value Proposition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62898" y="2991292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Unfair Advantage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41260" y="5436676"/>
            <a:ext cx="2732002" cy="3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9656" y="3298551"/>
            <a:ext cx="3052286" cy="28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 3 Problems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066270" y="3992432"/>
            <a:ext cx="3052286" cy="28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 Users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83410" y="4077996"/>
            <a:ext cx="3287259" cy="28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your solution is special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68637" y="4057128"/>
            <a:ext cx="3287259" cy="28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Features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97724" y="6069160"/>
            <a:ext cx="3485686" cy="28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Success Measurement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7431" y="8501694"/>
            <a:ext cx="3052286" cy="28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Major Expenses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38338" y="8258429"/>
            <a:ext cx="3052286" cy="28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Money will be earned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35460" y="6050341"/>
            <a:ext cx="3052286" cy="57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users will be reach you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35460" y="3992432"/>
            <a:ext cx="3052286" cy="57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651" lvl="2" indent="-125217" algn="l">
              <a:lnSpc>
                <a:spcPts val="2300"/>
              </a:lnSpc>
              <a:buFont typeface="Arial"/>
              <a:buChar char="⚬"/>
            </a:pPr>
            <a:r>
              <a:rPr lang="en-US" sz="164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competitors cannot copy</a:t>
            </a:r>
          </a:p>
        </p:txBody>
      </p:sp>
      <p:sp>
        <p:nvSpPr>
          <p:cNvPr id="40" name="Freeform 40"/>
          <p:cNvSpPr/>
          <p:nvPr/>
        </p:nvSpPr>
        <p:spPr>
          <a:xfrm>
            <a:off x="1751337" y="10883"/>
            <a:ext cx="14584237" cy="2479320"/>
          </a:xfrm>
          <a:custGeom>
            <a:avLst/>
            <a:gdLst/>
            <a:ahLst/>
            <a:cxnLst/>
            <a:rect l="l" t="t" r="r" b="b"/>
            <a:pathLst>
              <a:path w="14584237" h="2479320">
                <a:moveTo>
                  <a:pt x="0" y="0"/>
                </a:moveTo>
                <a:lnTo>
                  <a:pt x="14584237" y="0"/>
                </a:lnTo>
                <a:lnTo>
                  <a:pt x="14584237" y="2479321"/>
                </a:lnTo>
                <a:lnTo>
                  <a:pt x="0" y="2479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1" name="Group 41"/>
          <p:cNvGrpSpPr/>
          <p:nvPr/>
        </p:nvGrpSpPr>
        <p:grpSpPr>
          <a:xfrm>
            <a:off x="18347" y="10884"/>
            <a:ext cx="2049312" cy="2096039"/>
            <a:chOff x="0" y="0"/>
            <a:chExt cx="6254966" cy="639758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255004" cy="6397625"/>
            </a:xfrm>
            <a:custGeom>
              <a:avLst/>
              <a:gdLst/>
              <a:ahLst/>
              <a:cxnLst/>
              <a:rect l="l" t="t" r="r" b="b"/>
              <a:pathLst>
                <a:path w="6255004" h="6397625">
                  <a:moveTo>
                    <a:pt x="279400" y="0"/>
                  </a:moveTo>
                  <a:cubicBezTo>
                    <a:pt x="205359" y="0"/>
                    <a:pt x="134239" y="29337"/>
                    <a:pt x="81788" y="81788"/>
                  </a:cubicBezTo>
                  <a:cubicBezTo>
                    <a:pt x="29464" y="134112"/>
                    <a:pt x="0" y="205232"/>
                    <a:pt x="0" y="279400"/>
                  </a:cubicBezTo>
                  <a:lnTo>
                    <a:pt x="0" y="6118225"/>
                  </a:lnTo>
                  <a:cubicBezTo>
                    <a:pt x="0" y="6192266"/>
                    <a:pt x="29464" y="6263386"/>
                    <a:pt x="81788" y="6315837"/>
                  </a:cubicBezTo>
                  <a:cubicBezTo>
                    <a:pt x="134239" y="6368161"/>
                    <a:pt x="205232" y="6397625"/>
                    <a:pt x="279400" y="6397625"/>
                  </a:cubicBezTo>
                  <a:lnTo>
                    <a:pt x="5975604" y="6397625"/>
                  </a:lnTo>
                  <a:cubicBezTo>
                    <a:pt x="6049772" y="6397625"/>
                    <a:pt x="6120765" y="6368161"/>
                    <a:pt x="6173216" y="6315837"/>
                  </a:cubicBezTo>
                  <a:cubicBezTo>
                    <a:pt x="6225667" y="6263386"/>
                    <a:pt x="6255004" y="6192266"/>
                    <a:pt x="6255004" y="6118225"/>
                  </a:cubicBezTo>
                  <a:lnTo>
                    <a:pt x="6255004" y="279400"/>
                  </a:lnTo>
                  <a:cubicBezTo>
                    <a:pt x="6255004" y="205232"/>
                    <a:pt x="6225540" y="134112"/>
                    <a:pt x="6173216" y="81788"/>
                  </a:cubicBezTo>
                  <a:cubicBezTo>
                    <a:pt x="6120765" y="29337"/>
                    <a:pt x="6049645" y="0"/>
                    <a:pt x="5975604" y="0"/>
                  </a:cubicBezTo>
                  <a:close/>
                </a:path>
              </a:pathLst>
            </a:custGeom>
            <a:blipFill>
              <a:blip r:embed="rId4"/>
              <a:stretch>
                <a:fillRect l="-33906" t="-51661" r="-38748" b="-17145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5937247" y="108000"/>
            <a:ext cx="2350753" cy="2285089"/>
            <a:chOff x="0" y="0"/>
            <a:chExt cx="6819900" cy="6629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19900" cy="6629400"/>
            </a:xfrm>
            <a:custGeom>
              <a:avLst/>
              <a:gdLst/>
              <a:ahLst/>
              <a:cxnLst/>
              <a:rect l="l" t="t" r="r" b="b"/>
              <a:pathLst>
                <a:path w="6819900" h="6629400">
                  <a:moveTo>
                    <a:pt x="0" y="0"/>
                  </a:moveTo>
                  <a:lnTo>
                    <a:pt x="6819900" y="0"/>
                  </a:lnTo>
                  <a:lnTo>
                    <a:pt x="681990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217" t="-24178" r="-24993" b="-31376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574307" y="1851812"/>
            <a:ext cx="1024656" cy="45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IEDC</a:t>
            </a:r>
          </a:p>
        </p:txBody>
      </p:sp>
      <p:sp>
        <p:nvSpPr>
          <p:cNvPr id="66" name="Rectangle 17">
            <a:extLst>
              <a:ext uri="{FF2B5EF4-FFF2-40B4-BE49-F238E27FC236}">
                <a16:creationId xmlns:a16="http://schemas.microsoft.com/office/drawing/2014/main" id="{8EDE33B5-5C2E-158B-9994-BA007CA80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11" y="3673932"/>
            <a:ext cx="296508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plastic waste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classification and segregation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predictive system to prevent waste buildup</a:t>
            </a:r>
          </a:p>
        </p:txBody>
      </p:sp>
      <p:sp>
        <p:nvSpPr>
          <p:cNvPr id="67" name="Rectangle 18">
            <a:extLst>
              <a:ext uri="{FF2B5EF4-FFF2-40B4-BE49-F238E27FC236}">
                <a16:creationId xmlns:a16="http://schemas.microsoft.com/office/drawing/2014/main" id="{F5962F64-B518-13CC-5979-239A6E60B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3929" y="4539153"/>
            <a:ext cx="291693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Municipal corporations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city authorities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agencies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Campus management (colleges, malls, airports)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Waste management companies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7A02B4-B49C-ECDF-770B-969713BCE214}"/>
              </a:ext>
            </a:extLst>
          </p:cNvPr>
          <p:cNvSpPr txBox="1"/>
          <p:nvPr/>
        </p:nvSpPr>
        <p:spPr>
          <a:xfrm>
            <a:off x="7778449" y="4424864"/>
            <a:ext cx="30922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high-precision, real-time plastic waste surveillance system that detects, classifies, and predicts plastic accumulation within a 10-foot radius using multi-sensor fusion and intelligent analytics — even under varying lighting and weather conditions.</a:t>
            </a:r>
            <a:endParaRPr lang="en-IN" dirty="0"/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CD6A21DC-E22B-102D-724B-F53160BF9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724" y="4203865"/>
            <a:ext cx="33728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vision-based plastic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Multi-sensor fusion (camera + environmental sensors)</a:t>
            </a:r>
          </a:p>
        </p:txBody>
      </p:sp>
      <p:sp>
        <p:nvSpPr>
          <p:cNvPr id="93" name="Rectangle 42">
            <a:extLst>
              <a:ext uri="{FF2B5EF4-FFF2-40B4-BE49-F238E27FC236}">
                <a16:creationId xmlns:a16="http://schemas.microsoft.com/office/drawing/2014/main" id="{CBFF1C66-389B-8CF2-2E02-9A3187AF9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6939" y="6353487"/>
            <a:ext cx="31733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accuracy rate (%)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 in waste accumulation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hotspots predicted correct</a:t>
            </a:r>
          </a:p>
        </p:txBody>
      </p:sp>
      <p:sp>
        <p:nvSpPr>
          <p:cNvPr id="94" name="Rectangle 43">
            <a:extLst>
              <a:ext uri="{FF2B5EF4-FFF2-40B4-BE49-F238E27FC236}">
                <a16:creationId xmlns:a16="http://schemas.microsoft.com/office/drawing/2014/main" id="{1D418F4A-6019-A770-BEE7-1574D4628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7147" y="7010187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government tenders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city project collaborations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tech expos</a:t>
            </a:r>
          </a:p>
        </p:txBody>
      </p:sp>
      <p:sp>
        <p:nvSpPr>
          <p:cNvPr id="95" name="Rectangle 44">
            <a:extLst>
              <a:ext uri="{FF2B5EF4-FFF2-40B4-BE49-F238E27FC236}">
                <a16:creationId xmlns:a16="http://schemas.microsoft.com/office/drawing/2014/main" id="{4FD1CFD3-9B7A-26D5-140E-CFCF18AA4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4084" y="91821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installation charges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maintenance contracts (AMC)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SaaS-based dashboard subscription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analytics subscription for municipalities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deployment solutions</a:t>
            </a:r>
          </a:p>
        </p:txBody>
      </p:sp>
      <p:sp>
        <p:nvSpPr>
          <p:cNvPr id="96" name="Rectangle 45">
            <a:extLst>
              <a:ext uri="{FF2B5EF4-FFF2-40B4-BE49-F238E27FC236}">
                <a16:creationId xmlns:a16="http://schemas.microsoft.com/office/drawing/2014/main" id="{D76F6A9D-CA18-B99A-4706-2E75212AB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70" y="94107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(cameras, sensors, edge devices)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infrastructure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R&amp;D and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 and support staff</a:t>
            </a:r>
          </a:p>
        </p:txBody>
      </p:sp>
      <p:sp>
        <p:nvSpPr>
          <p:cNvPr id="97" name="Rectangle 46">
            <a:extLst>
              <a:ext uri="{FF2B5EF4-FFF2-40B4-BE49-F238E27FC236}">
                <a16:creationId xmlns:a16="http://schemas.microsoft.com/office/drawing/2014/main" id="{B67812AA-FEF6-80E0-E1D5-25B6F4126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6200" y="4535059"/>
            <a:ext cx="29753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Proprietary multi-sensor fusion algorithm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AI model optimal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206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Canva Sans Bold</vt:lpstr>
      <vt:lpstr>Calibri</vt:lpstr>
      <vt:lpstr>Canva Sans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Canvas Template</dc:title>
  <cp:lastModifiedBy>Treslina Martin</cp:lastModifiedBy>
  <cp:revision>2</cp:revision>
  <dcterms:created xsi:type="dcterms:W3CDTF">2006-08-16T00:00:00Z</dcterms:created>
  <dcterms:modified xsi:type="dcterms:W3CDTF">2026-02-14T22:44:30Z</dcterms:modified>
  <dc:identifier>DAHBRj6NsX0</dc:identifier>
</cp:coreProperties>
</file>